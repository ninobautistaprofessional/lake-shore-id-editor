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B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56048" y="914400"/>
            <a:ext cx="2286000" cy="2286000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09744" y="768096"/>
            <a:ext cx="2578608" cy="2578608"/>
          </a:xfrm>
          <a:prstGeom prst="ellipse">
            <a:avLst/>
          </a:prstGeom>
          <a:noFill/>
          <a:ln w="19050">
            <a:solidFill>
              <a:srgbClr val="2A4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s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097280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794760"/>
            <a:ext cx="106984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Oswald"/>
              </a:rPr>
              <a:t>LAKE SHORE COLLEGES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0B51F"/>
                </a:solidFill>
                <a:latin typeface="Oswald"/>
              </a:rPr>
              <a:t>ID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2356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FE0D5"/>
                </a:solidFill>
                <a:latin typeface="Montserrat"/>
              </a:rPr>
              <a:t>Automated Student ID Creation, Tracking, Preview, Export &amp; Printing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17220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8AA"/>
                </a:solidFill>
                <a:latin typeface="Montserrat"/>
              </a:rPr>
              <a:t>System Presentation  • 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What we will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49240" cy="102412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773936"/>
            <a:ext cx="685800" cy="68580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56232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764792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About the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2203704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Purpose, users, roles &amp; status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102412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1773936"/>
            <a:ext cx="685800" cy="68580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56232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1764792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Student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203704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Create ID, existing-student search, lost 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07208"/>
            <a:ext cx="5349240" cy="102412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2980944"/>
            <a:ext cx="685800" cy="68580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06324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297180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Admin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3410712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Records, analytics, status, printing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807208"/>
            <a:ext cx="5349240" cy="102412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19088" y="2980944"/>
            <a:ext cx="685800" cy="68580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06324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297180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Photos &amp;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3410712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Photo processing, library, bulk import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14216"/>
            <a:ext cx="5349240" cy="102412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4187952"/>
            <a:ext cx="685800" cy="68580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27024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19072" y="417880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Design &amp; Templates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461772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Exact-copy templates and versioning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014216"/>
            <a:ext cx="5349240" cy="102412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19088" y="4187952"/>
            <a:ext cx="685800" cy="68580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27024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6912" y="417880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Technical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6912" y="4617720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Frontend, backend, database, API, security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221224"/>
            <a:ext cx="5349240" cy="102412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" y="5394960"/>
            <a:ext cx="685800" cy="68580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477256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19072" y="5385816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Installation &amp; QA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19072" y="5824728"/>
            <a:ext cx="4160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XAMPP setup, test suites, go-live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0B51F"/>
                </a:solidFill>
                <a:latin typeface="Oswa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Oswald"/>
              </a:rPr>
              <a:t>About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CFE0D5"/>
                </a:solidFill>
                <a:latin typeface="Montserrat"/>
              </a:rPr>
              <a:t>One platform that turns student data into a finished, printable school ID in minutes.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What the System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7665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ID Creation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Generates official Lake Shore Colleges student IDs for every department.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Three Departments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College, Junior High School and Senior High School on one platform.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Public Portal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Students submit their own ID request online with no login required.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Existing-Student Search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A student number search finds an existing record instead of retyping it.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Admin &amp; Staff Dashboard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Create, search, edit, print and manage all ID records centrally.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Analytics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Totals, per-department counts and monthly trends, filterable by date and status.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Template System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Admin uploads the exact 100% design image and places live data zones on it.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Template Versioning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Publish a new design without changing cards already generated.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Photo Processing &amp; Library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Background removal, plus upload, clone, archive and preferred photo.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Bulk Import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Upload a CSV / XLSX / XLS roster, validate a preview, then commit in one transaction.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Smart ID 51 Ready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Exports front &amp; back as high-resolution PNG/JPG in CR80 54×85.6mm portrait.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Rate-Limited &amp; Audited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Public forms are throttled and bot-protected; every staff action is logged.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45920"/>
            <a:ext cx="384048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74519"/>
            <a:ext cx="32918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At a glance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>
                <a:solidFill>
                  <a:srgbClr val="F0B51F"/>
                </a:solidFill>
                <a:latin typeface="Oswald"/>
              </a:rPr>
              <a:t>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supported departments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>
                <a:solidFill>
                  <a:srgbClr val="F0B51F"/>
                </a:solidFill>
                <a:latin typeface="Oswald"/>
              </a:rPr>
              <a:t>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ID sides (front + back)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>
                <a:solidFill>
                  <a:srgbClr val="F0B51F"/>
                </a:solidFill>
                <a:latin typeface="Oswald"/>
              </a:rPr>
              <a:t>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college programmes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>
                <a:solidFill>
                  <a:srgbClr val="F0B51F"/>
                </a:solidFill>
                <a:latin typeface="Oswald"/>
              </a:rPr>
              <a:t>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statuses, created to released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3400" b="1">
                <a:solidFill>
                  <a:srgbClr val="F0B51F"/>
                </a:solidFill>
                <a:latin typeface="Oswald"/>
              </a:rPr>
              <a:t>55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API actions  ·  10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Who Uses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Three personas, one secure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448056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20440" cy="91440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Oswald"/>
              </a:rPr>
              <a:t>Students (Public Portal)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974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No login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08960"/>
            <a:ext cx="31546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Submit ID creation requests online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Search a student number to avoid retyping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Report a lost ID and request a reprint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Receive a reference number after submission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520440" cy="448056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520440" cy="914400"/>
          </a:xfrm>
          <a:prstGeom prst="roundRect">
            <a:avLst/>
          </a:prstGeom>
          <a:solidFill>
            <a:srgbClr val="2D6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55648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Oswald"/>
              </a:rPr>
              <a:t>Staff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974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School registrar / office personnel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108960"/>
            <a:ext cx="31546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Create and edit student IDs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Review, mark IDs as done, print and release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Manage lost-ID reprint requests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Use the photo library and bulk import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520440" cy="448056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645920"/>
            <a:ext cx="3520440" cy="914400"/>
          </a:xfrm>
          <a:prstGeom prst="roundRect">
            <a:avLst/>
          </a:prstGeom>
          <a:solidFill>
            <a:srgbClr val="173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755648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Oswald"/>
              </a:rP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26974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Full system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108960"/>
            <a:ext cx="315468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Everything staff can do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Manage users &amp; roles (admin / staff)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Design and version ID templates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Read the audit log and print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0B51F"/>
                </a:solidFill>
                <a:latin typeface="Oswal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Oswald"/>
              </a:rPr>
              <a:t>Student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0690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FD6C8"/>
                </a:solidFill>
                <a:latin typeface="Montserrat"/>
              </a:rPr>
              <a:t>Self-service ID creation and lost-ID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Create My ID – Student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Public portal, no login required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202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Choose 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42316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College, Junior High or Senior High.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92024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9202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Fill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42316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Name, course/grade/section, ID number, LRN, year.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3736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0" y="192024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99339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Upload Photo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42316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PNG / JPG / WEBP – stored server-side.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06908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4223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069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Add Back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7200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Home address, emergency contact &amp; phone.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88620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406908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14223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4069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Review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57200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Live front + back preview updates as you type.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88620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0" y="406908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14223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069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Submit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572000"/>
            <a:ext cx="2423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Saved to the ID Management System with a reference #.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Departments and ID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What each department captures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5760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5F38"/>
                </a:solidFill>
                <a:latin typeface="Oswald"/>
              </a:rPr>
              <a:t>COLLEGE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762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0B51F"/>
                </a:solidFill>
                <a:latin typeface="Montserrat"/>
              </a:rPr>
              <a:t>8 degree programs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3291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BS Psychology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BS Special Needs Education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BS Technology &amp; Livelihood Education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BS Accountancy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BS Real Estate Management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BS Tourism Management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BS Management Accounting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BS Criminology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65760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5F38"/>
                </a:solidFill>
                <a:latin typeface="Oswald"/>
              </a:rPr>
              <a:t>JUNIOR HIGH SCHOOL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762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0B51F"/>
                </a:solidFill>
                <a:latin typeface="Montserrat"/>
              </a:rPr>
              <a:t>Grades 7 –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606040"/>
            <a:ext cx="3291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Grade 7 – Green band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Grade 8 – Yellow band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Grade 9 – Blue band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Grade 10 – Red band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Section name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School year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LRN + ID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45920"/>
            <a:ext cx="365760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5F38"/>
                </a:solidFill>
                <a:latin typeface="Oswald"/>
              </a:rPr>
              <a:t>SENIOR HIGH SCHOOL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1762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0B51F"/>
                </a:solidFill>
                <a:latin typeface="Montserrat"/>
              </a:rPr>
              <a:t>Grades 11 –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606040"/>
            <a:ext cx="3291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Grade 11 – Purple band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Grade 12 – Orange band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Section name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School year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0">
                <a:solidFill>
                  <a:srgbClr val="22312A"/>
                </a:solidFill>
                <a:latin typeface="Montserrat"/>
              </a:rPr>
              <a:t>LRN + ID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Lost ID &amp; Reprint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Student reports a lost card – staff handles the reprint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23774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2312A"/>
                </a:solidFill>
                <a:latin typeface="Montserrat"/>
              </a:rPr>
              <a:t>Submits the Lost ID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Name + department + receipt upload (PNG/JPG/PDF).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B51F"/>
                </a:solidFill>
                <a:latin typeface="Oswald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560320" cy="23774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011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3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2312A"/>
                </a:solidFill>
                <a:latin typeface="Montserrat"/>
              </a:rPr>
              <a:t>Creates a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8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Reference number issued; request listed for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B51F"/>
                </a:solidFill>
                <a:latin typeface="Oswa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2560320" cy="23774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011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2312A"/>
                </a:solidFill>
                <a:latin typeface="Montserrat"/>
              </a:rPr>
              <a:t>Reviews request &amp; receipt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5468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Confirms the details against existing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B51F"/>
                </a:solidFill>
                <a:latin typeface="Oswald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2560320" cy="23774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0" y="201168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173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Staff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2312A"/>
                </a:solidFill>
                <a:latin typeface="Montserrat"/>
              </a:rPr>
              <a:t>Re-prints the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154680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Status updated; fresh copy handed to the student.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Existing Student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Search first – so nobody has to type their details twice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486400" cy="105156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312A"/>
                </a:solidFill>
                <a:latin typeface="Montserrat"/>
              </a:rPr>
              <a:t>Student Number:  2026-00125</a:t>
            </a:r>
            <a:r>
              <a:rPr sz="1400" b="1">
                <a:solidFill>
                  <a:srgbClr val="205F38"/>
                </a:solidFill>
                <a:latin typeface="Montserrat"/>
              </a:rPr>
              <a:t>     →  [ Search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848"/>
                </a:solidFill>
                <a:latin typeface="Montserrat"/>
              </a:rPr>
              <a:t>Student Found</a:t>
            </a:r>
            <a:r>
              <a:rPr sz="1200" b="0">
                <a:solidFill>
                  <a:srgbClr val="6E7873"/>
                </a:solidFill>
                <a:latin typeface="Montserrat"/>
              </a:rPr>
              <a:t>  =  the form fills itself   ·   </a:t>
            </a:r>
            <a:r>
              <a:rPr sz="1200" b="1">
                <a:solidFill>
                  <a:srgbClr val="B03A2E"/>
                </a:solidFill>
                <a:latin typeface="Montserrat"/>
              </a:rPr>
              <a:t>Student Not Found</a:t>
            </a:r>
            <a:r>
              <a:rPr sz="1200" b="0">
                <a:solidFill>
                  <a:srgbClr val="6E7873"/>
                </a:solidFill>
                <a:latin typeface="Montserrat"/>
              </a:rPr>
              <a:t>  =  create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6692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No retyping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The API returns the one matching record and the form fills automatically.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Three identifiers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Matches on Student Number, Student ID Number or LRN.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Privacy by default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Returns 10 whitelisted fields only – no photo, address or emergency contact.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No second row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A found record sends its id back; the server re-checks it inside the write lock.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Form switches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"Submit ID" becomes "Report Lost ID" as soon as a record is found.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645920"/>
            <a:ext cx="489204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10512"/>
            <a:ext cx="4434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Why it cannot be used to enumerate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331720"/>
            <a:ext cx="44348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0">
                <a:solidFill>
                  <a:srgbClr val="22312A"/>
                </a:solidFill>
                <a:latin typeface="Montserrat"/>
              </a:rPr>
              <a:t>Exact match only – never LIKE, so numbers cannot be walked one prefix at a time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0">
                <a:solidFill>
                  <a:srgbClr val="22312A"/>
                </a:solidFill>
                <a:latin typeface="Montserrat"/>
              </a:rPr>
              <a:t>One row only – LIMIT 1, so it can only answer about the number submitted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0">
                <a:solidFill>
                  <a:srgbClr val="22312A"/>
                </a:solidFill>
                <a:latin typeface="Montserrat"/>
              </a:rPr>
              <a:t>Minimum 4 characters – below that nothing reaches the database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0">
                <a:solidFill>
                  <a:srgbClr val="22312A"/>
                </a:solidFill>
                <a:latin typeface="Montserrat"/>
              </a:rPr>
              <a:t>No wildcards – % and _ are not in the accepted character set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0">
                <a:solidFill>
                  <a:srgbClr val="22312A"/>
                </a:solidFill>
                <a:latin typeface="Montserrat"/>
              </a:rPr>
              <a:t>Rejects, never truncates – a shortened number could match a different student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0">
                <a:solidFill>
                  <a:srgbClr val="22312A"/>
                </a:solidFill>
                <a:latin typeface="Montserrat"/>
              </a:rPr>
              <a:t>Rate limited – 5 per 10 minutes in its own bucket, with honeypot + captcha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0">
                <a:solidFill>
                  <a:srgbClr val="22312A"/>
                </a:solidFill>
                <a:latin typeface="Montserrat"/>
              </a:rPr>
              <a:t>Audited – every successful lookup is written to the audit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0B51F"/>
                </a:solidFill>
                <a:latin typeface="Oswal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Oswald"/>
              </a:rPr>
              <a:t>Admin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0690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FD6C8"/>
                </a:solidFill>
                <a:latin typeface="Montserrat"/>
              </a:rPr>
              <a:t>The command center for every ID in the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Admin &amp; Staff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Everything the office needs in one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5349240" cy="1060704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128016" cy="1060704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Quick links: create College / JHS / SHS IDs, view saved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72768"/>
            <a:ext cx="5349240" cy="1060704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72768"/>
            <a:ext cx="128016" cy="1060704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00784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ID Editor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84832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Full form driven by the selected template; photo + signatory auto-applied.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16352"/>
            <a:ext cx="5349240" cy="1060704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16352"/>
            <a:ext cx="128016" cy="1060704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44368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Saved 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28416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Searchable table of all IDs with status, date and one-click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16352"/>
            <a:ext cx="5349240" cy="1060704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816352"/>
            <a:ext cx="128016" cy="1060704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44368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Lost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28416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Inbox of lost-ID reprint requests with receipt preview.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59936"/>
            <a:ext cx="5349240" cy="1060704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59936"/>
            <a:ext cx="128016" cy="1060704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87952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Printing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Smart ID 51 dual-side print and PNG/JPG export per side.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59936"/>
            <a:ext cx="5349240" cy="1060704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059936"/>
            <a:ext cx="128016" cy="1060704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87952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7200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Admin-only: upload design images and assign data zones.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303520"/>
            <a:ext cx="5349240" cy="1060704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5303520"/>
            <a:ext cx="128016" cy="1060704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431536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User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15584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Admin-only: add / edit / disable staff and admin accounts.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303520"/>
            <a:ext cx="5349240" cy="1060704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303520"/>
            <a:ext cx="128016" cy="1060704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431536"/>
            <a:ext cx="4892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Signatories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815584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Manage authorized signatory names &amp; signature images.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Dashboard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Totals, trends and filters – one action=dashboardStats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60604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2606040" cy="146304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202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Total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774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Every ID ever created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60604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645920"/>
            <a:ext cx="2606040" cy="146304"/>
          </a:xfrm>
          <a:prstGeom prst="rect">
            <a:avLst/>
          </a:prstGeom>
          <a:solidFill>
            <a:srgbClr val="2D6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202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By 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3774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College / JHS / SHS split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60604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606040" cy="146304"/>
          </a:xfrm>
          <a:prstGeom prst="rect">
            <a:avLst/>
          </a:prstGeom>
          <a:solidFill>
            <a:srgbClr val="1D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9202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Monthly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3774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Generated vs. printed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645920"/>
            <a:ext cx="260604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645920"/>
            <a:ext cx="2606040" cy="14630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92024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Lost &amp; reprints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3774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Requests and reprint jobs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46120"/>
            <a:ext cx="5486400" cy="265176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0156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Every chart is filterable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862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Date range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date_from and date_to narrow every figure at once.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Department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College, Junior High or Senior High.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Status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created, done, edited, printed or released.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Totals reconcile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Per-department and monthly figures are verified against the database.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246120"/>
            <a:ext cx="5120640" cy="2651760"/>
          </a:xfrm>
          <a:prstGeom prst="roundRect">
            <a:avLst/>
          </a:prstGeom>
          <a:solidFill>
            <a:srgbClr val="173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3832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0B51F"/>
                </a:solidFill>
                <a:latin typeface="Oswald"/>
              </a:rPr>
              <a:t>What the API returns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84048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{ "summary":   { total, printed, released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"by_type":   { COLLEGE, JUNIOR_HIGH, ...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"monthly":   { generated[], printed[]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"lost_ids":  n,   "reprints":  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"filters":   { date_from, date_to,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              id_type, status }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ID Status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Every card tracks its journey from request to 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50592"/>
            <a:ext cx="1965960" cy="585216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0545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Oswald"/>
              </a:rPr>
              <a:t>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20040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New ID request from the portal or created by staff.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9736" y="25146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0B51F"/>
                </a:solidFill>
                <a:latin typeface="Oswald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2450592"/>
            <a:ext cx="1965960" cy="585216"/>
          </a:xfrm>
          <a:prstGeom prst="roundRect">
            <a:avLst/>
          </a:prstGeom>
          <a:solidFill>
            <a:srgbClr val="1D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250545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Oswald"/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320040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Final details confirmed and approved.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5146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0B51F"/>
                </a:solidFill>
                <a:latin typeface="Oswald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2450592"/>
            <a:ext cx="1965960" cy="585216"/>
          </a:xfrm>
          <a:prstGeom prst="roundRect">
            <a:avLst/>
          </a:prstGeom>
          <a:solidFill>
            <a:srgbClr val="8A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1496" y="250545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Oswald"/>
              </a:rPr>
              <a:t>Edited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20040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Card was updated after approval and needs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25146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0B51F"/>
                </a:solidFill>
                <a:latin typeface="Oswald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5784" y="2450592"/>
            <a:ext cx="1965960" cy="585216"/>
          </a:xfrm>
          <a:prstGeom prst="roundRect">
            <a:avLst/>
          </a:prstGeom>
          <a:solidFill>
            <a:srgbClr val="85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5784" y="250545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Oswald"/>
              </a:rPr>
              <a:t>Printed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320040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Sent to the printer; print count &amp; date stored.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514600"/>
            <a:ext cx="3840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0B51F"/>
                </a:solidFill>
                <a:latin typeface="Oswald"/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0072" y="2450592"/>
            <a:ext cx="1965960" cy="585216"/>
          </a:xfrm>
          <a:prstGeom prst="roundRect">
            <a:avLst/>
          </a:prstGeom>
          <a:solidFill>
            <a:srgbClr val="173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250545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Oswald"/>
              </a:rPr>
              <a:t>Released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200400"/>
            <a:ext cx="2011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Handed to the student. Terminal – no further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9160"/>
            <a:ext cx="10881360" cy="118872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463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05F38"/>
                </a:solidFill>
                <a:latin typeface="Oswald"/>
              </a:rPr>
              <a:t>How statuses are set automatically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Student submission → Created.  Staff “Mark as Done” → Done.  Editing a Done card → Edited.  </a:t>
            </a:r>
            <a:r>
              <a:rPr sz="1100" b="1">
                <a:solidFill>
                  <a:srgbClr val="6E7873"/>
                </a:solidFill>
                <a:latin typeface="Montserrat"/>
              </a:rPr>
              <a:t>Print → Printed (counter + timestamp + one history row).  Release → Released — final.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D6848"/>
                </a:solidFill>
                <a:latin typeface="Montserrat"/>
              </a:rPr>
              <a:t>A released ID can no longer be re-statused, re-released or re-printed; the server refuses with HTTP 409 and changes nothing.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Preview, Export &amp; 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Smart ID 51 / CR80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309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Live Preview </a:t>
            </a:r>
            <a:r>
              <a:rPr sz="1300" b="0">
                <a:solidFill>
                  <a:srgbClr val="22312A"/>
                </a:solidFill>
                <a:latin typeface="Montserrat"/>
              </a:rPr>
              <a:t>Front + back cards update in real time as fields are typed.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Exact Proportion </a:t>
            </a:r>
            <a:r>
              <a:rPr sz="1300" b="0">
                <a:solidFill>
                  <a:srgbClr val="22312A"/>
                </a:solidFill>
                <a:latin typeface="Montserrat"/>
              </a:rPr>
              <a:t>Portrait 642×1013 px, matching CR80 54×85.6 mm.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High-Resolution Render </a:t>
            </a:r>
            <a:r>
              <a:rPr sz="1300" b="0">
                <a:solidFill>
                  <a:srgbClr val="22312A"/>
                </a:solidFill>
                <a:latin typeface="Montserrat"/>
              </a:rPr>
              <a:t>html2canvas generates a 3× crisp render of each side.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Export Formats </a:t>
            </a:r>
            <a:r>
              <a:rPr sz="1300" b="0">
                <a:solidFill>
                  <a:srgbClr val="22312A"/>
                </a:solidFill>
                <a:latin typeface="Montserrat"/>
              </a:rPr>
              <a:t>PNG and JPG export buttons for front and back separately.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Direct Print </a:t>
            </a:r>
            <a:r>
              <a:rPr sz="1300" b="0">
                <a:solidFill>
                  <a:srgbClr val="22312A"/>
                </a:solidFill>
                <a:latin typeface="Montserrat"/>
              </a:rPr>
              <a:t>One job – page 1 front (colour), page 2 back (B&amp;W), auto duplex.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37360"/>
            <a:ext cx="4114800" cy="41148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40" y="2194560"/>
            <a:ext cx="2011680" cy="3200400"/>
          </a:xfrm>
          <a:prstGeom prst="roundRect">
            <a:avLst/>
          </a:prstGeom>
          <a:solidFill>
            <a:srgbClr val="173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0B51F"/>
                </a:solidFill>
                <a:latin typeface="Oswald"/>
              </a:rPr>
              <a:t>LSC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926080"/>
            <a:ext cx="1188720" cy="914400"/>
          </a:xfrm>
          <a:prstGeom prst="roundRect">
            <a:avLst/>
          </a:prstGeom>
          <a:solidFill>
            <a:srgbClr val="6E7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0" y="4114800"/>
            <a:ext cx="1828800" cy="50292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4754880"/>
            <a:ext cx="1828800" cy="274320"/>
          </a:xfrm>
          <a:prstGeom prst="roundRect">
            <a:avLst/>
          </a:prstGeom>
          <a:solidFill>
            <a:srgbClr val="2D6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534924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Front + 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0B51F"/>
                </a:solidFill>
                <a:latin typeface="Oswal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Oswald"/>
              </a:rPr>
              <a:t>Photos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0690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FD6C8"/>
                </a:solidFill>
                <a:latin typeface="Montserrat"/>
              </a:rPr>
              <a:t>Photo processing, the photo library, and bulk student 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Photo Processing &amp;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Clean cut-outs, reusable photos, per-student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486400" cy="416052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5F38"/>
                </a:solidFill>
                <a:latin typeface="Oswald"/>
              </a:rPr>
              <a:t>Photo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Removes the background to produce a clean cut-out.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97480"/>
            <a:ext cx="1600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2971800"/>
            <a:ext cx="1051560" cy="1325880"/>
          </a:xfrm>
          <a:prstGeom prst="rect">
            <a:avLst/>
          </a:prstGeom>
          <a:solidFill>
            <a:srgbClr val="D9D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E7873"/>
                </a:solidFill>
                <a:latin typeface="Montserrat"/>
              </a:rPr>
              <a:t>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3520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0B51F"/>
                </a:solidFill>
                <a:latin typeface="Oswald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697480"/>
            <a:ext cx="1600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971800"/>
            <a:ext cx="1051560" cy="1325880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4892040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05F38"/>
                </a:solidFill>
                <a:latin typeface="Montserrat"/>
              </a:rPr>
              <a:t>Processed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30368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Background: transparent, white or a custom colour.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651760"/>
            <a:ext cx="13716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6592" y="2788920"/>
            <a:ext cx="1143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>
                <a:solidFill>
                  <a:srgbClr val="F0B51F"/>
                </a:solidFill>
                <a:latin typeface="Oswald"/>
              </a:rPr>
              <a:t>RULES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E7873"/>
                </a:solidFill>
                <a:latin typeface="Montserrat"/>
              </a:rPr>
              <a:t>PNG / JPG / WEBP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E7873"/>
                </a:solidFill>
                <a:latin typeface="Montserrat"/>
              </a:rPr>
              <a:t>max 10 MB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E7873"/>
                </a:solidFill>
                <a:latin typeface="Montserrat"/>
              </a:rPr>
              <a:t>min 96×96 px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7873"/>
                </a:solidFill>
                <a:latin typeface="Montserrat"/>
              </a:rPr>
              <a:t>original always kept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645920"/>
            <a:ext cx="5120640" cy="416052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81051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05F38"/>
                </a:solidFill>
                <a:latin typeface="Oswald"/>
              </a:rPr>
              <a:t>Photo Library – one photo, many 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331720"/>
            <a:ext cx="46634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Upload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Add a photo against any student record.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Search &amp; browse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Reuse an existing photo instead of asking the student again.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Clone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Copy a photo to another student record.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Set preferred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Choose which photo appears on the card.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Replace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Swap the image while keeping the same record and history.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Archive / restore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Hide a photo without losing it (soft delete).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Delete – </a:t>
            </a:r>
            <a:r>
              <a:rPr sz="1150" b="0">
                <a:solidFill>
                  <a:srgbClr val="22312A"/>
                </a:solidFill>
                <a:latin typeface="Montserrat"/>
              </a:rPr>
              <a:t>Remove permanently when it is no longer needed.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Bulk Student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Upload a roster once instead of creating records by hand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6616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93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1343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Blank CSV template with the correct columns.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56616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874520"/>
            <a:ext cx="548640" cy="548640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293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87452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1343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CSV, XLSX or XLS – up to 5,000 rows / 10 MB.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91640"/>
            <a:ext cx="356616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0" y="1874520"/>
            <a:ext cx="548640" cy="548640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9293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87452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31343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Every row checked; the department is auto-detected.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91840"/>
            <a:ext cx="356616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3474720"/>
            <a:ext cx="548640" cy="548640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5295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47472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Preview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91363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Valid and invalid rows listed, each with a reason.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291840"/>
            <a:ext cx="356616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3474720"/>
            <a:ext cx="548640" cy="548640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5295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Oswa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47472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Commit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91363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One transaction – all or nothing.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291840"/>
            <a:ext cx="3566160" cy="13716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0" y="3474720"/>
            <a:ext cx="548640" cy="548640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352958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Oswa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474720"/>
            <a:ext cx="2560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Generate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1363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IDs are produced through the normal print flow.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983480"/>
            <a:ext cx="10881360" cy="96012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102352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05F38"/>
                </a:solidFill>
                <a:latin typeface="Oswald"/>
              </a:rPr>
              <a:t>Why it is safe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The same department rules as the manual form are enforced, duplicates are found both inside the file and against the database, and the commit holds the lsc_card_write lock in a single transaction – so a failed import leaves nothing behind and never imports a student twice.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0B51F"/>
                </a:solidFill>
                <a:latin typeface="Oswal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Oswald"/>
              </a:rPr>
              <a:t>Design &amp;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0690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FD6C8"/>
                </a:solidFill>
                <a:latin typeface="Montserrat"/>
              </a:rPr>
              <a:t>ID design becomes a reusable, exact-copy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ID Template Designer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Upload your design once – data zones stay live forever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67512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100% Exact Copy </a:t>
            </a:r>
            <a:r>
              <a:rPr sz="1300" b="0">
                <a:solidFill>
                  <a:srgbClr val="22312A"/>
                </a:solidFill>
                <a:latin typeface="Montserrat"/>
              </a:rPr>
              <a:t>Upload the front (and optional back) design as PNG/JPG – the ID uses your exact artwork.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Data Zones </a:t>
            </a:r>
            <a:r>
              <a:rPr sz="1300" b="0">
                <a:solidFill>
                  <a:srgbClr val="22312A"/>
                </a:solidFill>
                <a:latin typeface="Montserrat"/>
              </a:rPr>
              <a:t>Drag &amp; resize boxes on the design where name, photo, course, number etc. will render.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Per-Department Active Templates </a:t>
            </a:r>
            <a:r>
              <a:rPr sz="1300" b="0">
                <a:solidFill>
                  <a:srgbClr val="22312A"/>
                </a:solidFill>
                <a:latin typeface="Montserrat"/>
              </a:rPr>
              <a:t>One active template per department, auto-matched when creating an ID.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Built-in Original LSC Design </a:t>
            </a:r>
            <a:r>
              <a:rPr sz="1300" b="0">
                <a:solidFill>
                  <a:srgbClr val="22312A"/>
                </a:solidFill>
                <a:latin typeface="Montserrat"/>
              </a:rPr>
              <a:t>3 protected system templates (College / JHS / SHS) – cannot be deleted or renamed.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300" b="1">
                <a:solidFill>
                  <a:srgbClr val="22312A"/>
                </a:solidFill>
                <a:latin typeface="Montserrat"/>
              </a:rPr>
              <a:t>Fully Editable </a:t>
            </a:r>
            <a:r>
              <a:rPr sz="1300" b="0">
                <a:solidFill>
                  <a:srgbClr val="22312A"/>
                </a:solidFill>
                <a:latin typeface="Montserrat"/>
              </a:rPr>
              <a:t>Change fonts, sizes, colours, transforms (uppercase), alignment and image fit.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91640"/>
            <a:ext cx="3794760" cy="429768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28346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2240280"/>
            <a:ext cx="960120" cy="1188720"/>
          </a:xfrm>
          <a:prstGeom prst="roundRect">
            <a:avLst/>
          </a:prstGeom>
          <a:solidFill>
            <a:srgbClr val="6E7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55480" y="2240280"/>
            <a:ext cx="1188720" cy="347472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55480" y="2743200"/>
            <a:ext cx="1188720" cy="182880"/>
          </a:xfrm>
          <a:prstGeom prst="roundRect">
            <a:avLst/>
          </a:prstGeom>
          <a:solidFill>
            <a:srgbClr val="2D6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6576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Drag &amp; resize zones</a:t>
            </a:r>
            <a:r>
              <a:rPr sz="1200" b="1">
                <a:solidFill>
                  <a:srgbClr val="F0B51F"/>
                </a:solidFill>
                <a:latin typeface="Montserrat"/>
              </a:rPr>
              <a:t>↞↟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069080"/>
            <a:ext cx="2377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Each zone = one data
field, positioned over
the exact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The Official LSC ID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Front and back anatomy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1208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73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1460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School logo &amp; header </a:t>
            </a:r>
            <a:r>
              <a:rPr sz="1200" b="0">
                <a:solidFill>
                  <a:srgbClr val="22312A"/>
                </a:solidFill>
                <a:latin typeface="Montserrat"/>
              </a:rPr>
              <a:t>Institution name and header design.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ID photo frame </a:t>
            </a:r>
            <a:r>
              <a:rPr sz="1200" b="0">
                <a:solidFill>
                  <a:srgbClr val="22312A"/>
                </a:solidFill>
                <a:latin typeface="Montserrat"/>
              </a:rPr>
              <a:t>Student photo, cropped &amp; fitted to the template.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Name band </a:t>
            </a:r>
            <a:r>
              <a:rPr sz="1200" b="0">
                <a:solidFill>
                  <a:srgbClr val="22312A"/>
                </a:solidFill>
                <a:latin typeface="Montserrat"/>
              </a:rPr>
              <a:t>Full name in uppercase (Oswald font), colour-coded by grade.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Course / grade line </a:t>
            </a:r>
            <a:r>
              <a:rPr sz="1200" b="0">
                <a:solidFill>
                  <a:srgbClr val="22312A"/>
                </a:solidFill>
                <a:latin typeface="Montserrat"/>
              </a:rPr>
              <a:t>College program or JHS/SHS grade level.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Student number / LRN </a:t>
            </a:r>
            <a:r>
              <a:rPr sz="1200" b="0">
                <a:solidFill>
                  <a:srgbClr val="22312A"/>
                </a:solidFill>
                <a:latin typeface="Montserrat"/>
              </a:rPr>
              <a:t>ID number area at the bottom front.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9088" y="182880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173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ontserrat"/>
              </a:rPr>
              <a:t>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51460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Address block </a:t>
            </a:r>
            <a:r>
              <a:rPr sz="1200" b="0">
                <a:solidFill>
                  <a:srgbClr val="22312A"/>
                </a:solidFill>
                <a:latin typeface="Montserrat"/>
              </a:rPr>
              <a:t>Home address line 1 and line 2.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Emergency contact </a:t>
            </a:r>
            <a:r>
              <a:rPr sz="1200" b="0">
                <a:solidFill>
                  <a:srgbClr val="22312A"/>
                </a:solidFill>
                <a:latin typeface="Montserrat"/>
              </a:rPr>
              <a:t>“In case of emergency, please notify” + name &amp; phone.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Terms &amp; conditions </a:t>
            </a:r>
            <a:r>
              <a:rPr sz="1200" b="0">
                <a:solidFill>
                  <a:srgbClr val="22312A"/>
                </a:solidFill>
                <a:latin typeface="Montserrat"/>
              </a:rPr>
              <a:t>Non-transferable, wear conspicuously, replacement charged.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School details </a:t>
            </a:r>
            <a:r>
              <a:rPr sz="1200" b="0">
                <a:solidFill>
                  <a:srgbClr val="22312A"/>
                </a:solidFill>
                <a:latin typeface="Montserrat"/>
              </a:rPr>
              <a:t>Institution name, address, contact numbers, e-mail.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Authorized signatory </a:t>
            </a:r>
            <a:r>
              <a:rPr sz="1200" b="0">
                <a:solidFill>
                  <a:srgbClr val="22312A"/>
                </a:solidFill>
                <a:latin typeface="Montserrat"/>
              </a:rPr>
              <a:t>Signature + printed name of the department signatory.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Template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Change the design mid-year without changing cards already printed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309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Versioned families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Saving over a template creates version n+1; earlier versions are never overwritten.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Cards pin their version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Each ID stores the template id and version it was generated with.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Safe redesign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Activating a new design never alters a card that was already produced.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Faithful reprints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A reprint always reproduces the original design, years later.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One active per department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Enforced by a UNIQUE key, not only by the interface.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50" b="1">
                <a:solidFill>
                  <a:srgbClr val="22312A"/>
                </a:solidFill>
                <a:latin typeface="Montserrat"/>
              </a:rPr>
              <a:t>Protected originals – </a:t>
            </a:r>
            <a:r>
              <a:rPr sz="1250" b="0">
                <a:solidFill>
                  <a:srgbClr val="22312A"/>
                </a:solidFill>
                <a:latin typeface="Montserrat"/>
              </a:rPr>
              <a:t>The three seeded Original LSC Design templates cannot be deleted or renamed.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91640"/>
            <a:ext cx="420624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8288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A template 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2331720"/>
            <a:ext cx="3749039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43800" y="2331720"/>
            <a:ext cx="685800" cy="914400"/>
          </a:xfrm>
          <a:prstGeom prst="rect">
            <a:avLst/>
          </a:prstGeom>
          <a:solidFill>
            <a:srgbClr val="C8D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587752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312A"/>
                </a:solidFill>
                <a:latin typeface="Oswald"/>
              </a:rPr>
              <a:t>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45973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312A"/>
                </a:solidFill>
                <a:latin typeface="Montserrat"/>
              </a:rPr>
              <a:t>Original LSC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81635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cards 1–500 still print v1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3447288"/>
            <a:ext cx="3749039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3447288"/>
            <a:ext cx="685800" cy="914400"/>
          </a:xfrm>
          <a:prstGeom prst="rect">
            <a:avLst/>
          </a:prstGeom>
          <a:solidFill>
            <a:srgbClr val="A8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3703320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312A"/>
                </a:solidFill>
                <a:latin typeface="Oswald"/>
              </a:rPr>
              <a:t>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357530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312A"/>
                </a:solidFill>
                <a:latin typeface="Montserrat"/>
              </a:rPr>
              <a:t>Redesigned band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3931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cards 501–1200 print v2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4562856"/>
            <a:ext cx="3749039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4562856"/>
            <a:ext cx="685800" cy="914400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4818888"/>
            <a:ext cx="685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Oswald"/>
              </a:rPr>
              <a:t>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69087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312A"/>
                </a:solidFill>
                <a:latin typeface="Montserrat"/>
              </a:rPr>
              <a:t>New photo 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50474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new cards print v3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54864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2D6848"/>
                </a:solidFill>
                <a:latin typeface="Montserrat"/>
              </a:rPr>
              <a:t>Only one version is active per department.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0B51F"/>
                </a:solidFill>
                <a:latin typeface="Oswald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Oswald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0690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FD6C8"/>
                </a:solidFill>
                <a:latin typeface="Montserrat"/>
              </a:rPr>
              <a:t>Frontend, backend, database and API – secured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3-tier web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291840" cy="310896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834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Oswald"/>
              </a:rPr>
              <a:t>CLIENT (Browser)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React + Vite frontend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Student portal &amp; admin dashboard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Live preview via html2canvas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PNG / JPG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33832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0B51F"/>
                </a:solidFill>
                <a:latin typeface="Oswald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03120"/>
            <a:ext cx="3291840" cy="3108960"/>
          </a:xfrm>
          <a:prstGeom prst="roundRect">
            <a:avLst/>
          </a:prstGeom>
          <a:solidFill>
            <a:srgbClr val="2D6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834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Oswald"/>
              </a:rPr>
              <a:t>BACKEND (PHP / XAMPP)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REST API – backend/api.php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Login, sessions &amp; CSRF tokens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Image uploads (MIME validated)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Card &amp; template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3832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0B51F"/>
                </a:solidFill>
                <a:latin typeface="Oswald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103120"/>
            <a:ext cx="3291840" cy="3108960"/>
          </a:xfrm>
          <a:prstGeom prst="roundRect">
            <a:avLst/>
          </a:prstGeom>
          <a:solidFill>
            <a:srgbClr val="173F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2834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FFFFFF"/>
                </a:solidFill>
                <a:latin typeface="Oswald"/>
              </a:rPr>
              <a:t>DATABASE (MySQL/MariaDB)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lake_shore_id_system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users, id_cards, id_templates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signatories, system_settings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E7F0EA"/>
                </a:solidFill>
                <a:latin typeface="Montserrat"/>
              </a:rPr>
              <a:t>• password_resets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Built on open, tried-and-tested 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6616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React (JSX)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Vite (build + dev server)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html2canvas (image render)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CSS (custom, brand theming)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Montserrat / Oswald typefaces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56616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PHP (XAMPP / Apache)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REST API (api.php)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Native sessions + cookies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password_hash / password_verify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CSRF token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56616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828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05F38"/>
                </a:solidFill>
                <a:latin typeface="Oswald"/>
              </a:rPr>
              <a:t>Data &amp; Infra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46888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MySQL / MariaDB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JSON field storage (templates)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PNG / JPG / WEBP / PDF uploads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XAMPP stack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250" b="0">
                <a:solidFill>
                  <a:srgbClr val="22312A"/>
                </a:solidFill>
                <a:latin typeface="Montserrat"/>
              </a:rPr>
              <a:t>Localhost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MySQL / MariaDB – lake_shore_id_system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72768"/>
          <a:ext cx="10881360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3200400"/>
                <a:gridCol w="57607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Table</a:t>
                      </a:r>
                    </a:p>
                  </a:txBody>
                  <a:tcPr marL="73152" marR="54864" marT="18288" marB="18288" anchor="ctr">
                    <a:solidFill>
                      <a:srgbClr val="205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Purpose</a:t>
                      </a:r>
                    </a:p>
                  </a:txBody>
                  <a:tcPr marL="73152" marR="54864" marT="18288" marB="18288" anchor="ctr">
                    <a:solidFill>
                      <a:srgbClr val="205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Key fields</a:t>
                      </a:r>
                    </a:p>
                  </a:txBody>
                  <a:tcPr marL="73152" marR="54864" marT="18288" marB="18288" anchor="ctr">
                    <a:solidFill>
                      <a:srgbClr val="205F3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id_cards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All student ID records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student_name, id_type, course, grade_level, photo, status, template_version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users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Staff &amp; admin accounts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username, password (bcrypt), role (admin/staff), is_active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id_templates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Versioned ID designs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name, version, parent_id, fields_json, is_active, is_system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student_photos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Every photo variant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student_id, type, source, file_path, background_info, is_active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audit_logs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Append-only activity trail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action, entity_type, old_value, new_value, ip_address, user_agent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print_history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Every print job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card_id, user_id, print_type (original/reprint), reason, printed_at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signatories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Authorized signatories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full_name, position_title, signature_path, is_active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password_resets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Secure password recovery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token_hash, expires_at (30-min), used flag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rate_limit_*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Public portal throttling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bucket, ip_address, window_start, hits, expires_at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system_settings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School contact details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institution_name, address, mobile, telephone, e-mail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10 tables, InnoDB, utf8mb4. Audit rows are never updated or deleted, so the trail cannot be rewritten.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REST API – Endpoint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Single backend entrypoint: backend/api.php?action=...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10881360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2011680"/>
                <a:gridCol w="46634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Action</a:t>
                      </a:r>
                    </a:p>
                  </a:txBody>
                  <a:tcPr marL="73152" marR="54864" marT="18288" marB="18288" anchor="ctr">
                    <a:solidFill>
                      <a:srgbClr val="205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Method</a:t>
                      </a:r>
                    </a:p>
                  </a:txBody>
                  <a:tcPr marL="73152" marR="54864" marT="18288" marB="18288" anchor="ctr">
                    <a:solidFill>
                      <a:srgbClr val="205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Purpose</a:t>
                      </a:r>
                    </a:p>
                  </a:txBody>
                  <a:tcPr marL="73152" marR="54864" marT="18288" marB="18288" anchor="ctr">
                    <a:solidFill>
                      <a:srgbClr val="205F3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login / logout / me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POST/POST/GET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Session-based authentication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forgotPassword / resetPassword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POST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Password recovery (token never returned)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studentSaveCard / studentUploadPhoto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POST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Public portal submission + photo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studentLookup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POST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Existing-student search (rate limited)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lostIdRequest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POST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Lost-ID reprint request with receipt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cards / card / saveCard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GET/GET/POST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List, view, create &amp; edit records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setCardStatus / printCard / bulkPrint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POST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Lifecycle, single print, batch print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releaseCard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POST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Release a printed ID (terminal state)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dashboardStats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GET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Totals, trends, lost IDs, reprints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quickCreateStudent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POST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Create the record, then add photos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templates / saveTemplate / setActiveTemplate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GET/POST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Template design &amp; versioning (admin)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photoLibrary* (11 actions)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GET/POST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Upload, clone, replace, archive, preferred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importTemplate / importUpload / importCommit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GET/POST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Bulk student import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users / saveUser / deleteUser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GET/POST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User management (admin only)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312A"/>
                          </a:solidFill>
                          <a:latin typeface="Montserrat"/>
                        </a:rPr>
                        <a:t>auditLogs / printHistory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GET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312A"/>
                          </a:solidFill>
                          <a:latin typeface="Montserrat"/>
                        </a:rPr>
                        <a:t>Read-only history (admin only)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Security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Protecting student data at every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Session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282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Login backed by PHP sessions; BINARY username match prevents case tricks.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813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Strong Password Hashing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17282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password_hash() / password_verify() with bcrypt.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CSRF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140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Every state-changing request requires a per-session CSRF token.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671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Validated Uploads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4140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MIME type + file extension whitelist (PNG/JPG/WEBP/PDF); random file names.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529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Duplicate Prevention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0998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API blocks a student with the same name + student number / ID / LRN.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529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Locked-down CORS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0998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Only allowlisted origins may call the API with credentials.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387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Role-based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7856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Admin-only actions (users, templates) enforced server-side.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387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Protected System Templates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7856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The Original LSC Design cannot be deleted or renamed.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245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Revocable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4714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Admins can disable users; deactivated accounts cannot log 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245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Secure Reset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44714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Hashed 30-minute reset tokens with single-use flag.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103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Rate Limiting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1572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Public forms throttled 5/10min per IP, with honeypot and self-hosted captcha.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9103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Append-Only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51572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Every staff action logged with user, IP and before/after values.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961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05F38"/>
                </a:solidFill>
                <a:latin typeface="Montserrat"/>
              </a:rPr>
              <a:t>✓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Privacy by Whitelist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8430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The public search returns only the 10 fields the form needs.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Public Portal Rate Limiting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The portal stays open – but it cannot be flooded or automated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423160" cy="132588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0B51F"/>
                </a:solidFill>
                <a:latin typeface="Oswal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04288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05F38"/>
                </a:solidFill>
                <a:latin typeface="Montserrat"/>
              </a:rPr>
              <a:t>requests allowed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96896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per 10 minutes per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45920"/>
            <a:ext cx="2423160" cy="132588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5564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0B51F"/>
                </a:solidFill>
                <a:latin typeface="Oswald"/>
              </a:rPr>
              <a:t>429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04288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05F38"/>
                </a:solidFill>
                <a:latin typeface="Montserrat"/>
              </a:rPr>
              <a:t>status returned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96896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with Retry-After header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645920"/>
            <a:ext cx="2423160" cy="132588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755648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0B51F"/>
                </a:solidFill>
                <a:latin typeface="Oswald"/>
              </a:rPr>
              <a:t>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04288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205F38"/>
                </a:solidFill>
                <a:latin typeface="Montserrat"/>
              </a:rPr>
              <a:t>endpoint buckets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96896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a search never eats quota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691640"/>
            <a:ext cx="2971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050" b="1">
                <a:solidFill>
                  <a:srgbClr val="22312A"/>
                </a:solidFill>
                <a:latin typeface="Montserrat"/>
              </a:rPr>
              <a:t>Server-side only – </a:t>
            </a:r>
            <a:r>
              <a:rPr sz="1050" b="0">
                <a:solidFill>
                  <a:srgbClr val="22312A"/>
                </a:solidFill>
                <a:latin typeface="Montserrat"/>
              </a:rPr>
              <a:t>The limit lives in the API; the form only mirrors the message.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050" b="1">
                <a:solidFill>
                  <a:srgbClr val="22312A"/>
                </a:solidFill>
                <a:latin typeface="Montserrat"/>
              </a:rPr>
              <a:t>Refused before any work – </a:t>
            </a:r>
            <a:r>
              <a:rPr sz="1050" b="0">
                <a:solidFill>
                  <a:srgbClr val="22312A"/>
                </a:solidFill>
                <a:latin typeface="Montserrat"/>
              </a:rPr>
              <a:t>Rejected before validation, upload or database write.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050" b="1">
                <a:solidFill>
                  <a:srgbClr val="22312A"/>
                </a:solidFill>
                <a:latin typeface="Montserrat"/>
              </a:rPr>
              <a:t>Race-proof counters – </a:t>
            </a:r>
            <a:r>
              <a:rPr sz="1050" b="0">
                <a:solidFill>
                  <a:srgbClr val="22312A"/>
                </a:solidFill>
                <a:latin typeface="Montserrat"/>
              </a:rPr>
              <a:t>One atomic upsert, so parallel hits cannot slip past.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050" b="1">
                <a:solidFill>
                  <a:srgbClr val="22312A"/>
                </a:solidFill>
                <a:latin typeface="Montserrat"/>
              </a:rPr>
              <a:t>Trusted proxies only – </a:t>
            </a:r>
            <a:r>
              <a:rPr sz="1050" b="0">
                <a:solidFill>
                  <a:srgbClr val="22312A"/>
                </a:solidFill>
                <a:latin typeface="Montserrat"/>
              </a:rPr>
              <a:t>X-Forwarded-For honoured only from a listed proxy; IPv6 bucketed per /64.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050" b="1">
                <a:solidFill>
                  <a:srgbClr val="22312A"/>
                </a:solidFill>
                <a:latin typeface="Montserrat"/>
              </a:rPr>
              <a:t>Fails open – </a:t>
            </a:r>
            <a:r>
              <a:rPr sz="1050" b="0">
                <a:solidFill>
                  <a:srgbClr val="22312A"/>
                </a:solidFill>
                <a:latin typeface="Montserrat"/>
              </a:rPr>
              <a:t>A database hiccup logs a warning but never takes the portal offline.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54680"/>
            <a:ext cx="7680960" cy="27432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291840"/>
            <a:ext cx="7223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Staying usable on a shared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49039"/>
            <a:ext cx="7223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A whole computer lab sits behind one public IP, so a hard block would stop real students. Two escapes keep it fair: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1">
                <a:solidFill>
                  <a:srgbClr val="22312A"/>
                </a:solidFill>
                <a:latin typeface="Montserrat"/>
              </a:rPr>
              <a:t>Captcha –</a:t>
            </a:r>
            <a:r>
              <a:rPr sz="1100" b="0">
                <a:solidFill>
                  <a:srgbClr val="6E7873"/>
                </a:solidFill>
                <a:latin typeface="Montserrat"/>
              </a:rPr>
              <a:t> a blocked client solves a self-hosted SVG challenge once per window to unlock extra attempts. No third party, no API key, no GD extension needed.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1">
                <a:solidFill>
                  <a:srgbClr val="22312A"/>
                </a:solidFill>
                <a:latin typeface="Montserrat"/>
              </a:rPr>
              <a:t>Honeypot –</a:t>
            </a:r>
            <a:r>
              <a:rPr sz="1100" b="0">
                <a:solidFill>
                  <a:srgbClr val="6E7873"/>
                </a:solidFill>
                <a:latin typeface="Montserrat"/>
              </a:rPr>
              <a:t> public forms carry a hidden field; a filled value marks a bot and is rejected without consuming the human's quota.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Audit Log &amp;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Append-only: who did what, when, from where – and it cannot be rewritten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6309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Every important action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Create, edit, status change, print, release, delete, template, signatory, user, login, logout.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Field-level diffs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An edit reads as “Course: BS Psychology → BS Accountancy”, not just a timestamp.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Who and where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The user, the client IP and the user agent are captured automatically.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Public actions too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Submissions, lookups, rate-limited requests and rejected bots are recorded with a null user.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Read-only by design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No API route can update or delete an audit row – that is what makes it trustworthy.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205F38"/>
                </a:solidFill>
                <a:latin typeface="Montserrat"/>
              </a:rPr>
              <a:t>▪  </a:t>
            </a:r>
            <a:r>
              <a:rPr sz="1200" b="1">
                <a:solidFill>
                  <a:srgbClr val="22312A"/>
                </a:solidFill>
                <a:latin typeface="Montserrat"/>
              </a:rPr>
              <a:t>Admin only – </a:t>
            </a:r>
            <a:r>
              <a:rPr sz="1200" b="0">
                <a:solidFill>
                  <a:srgbClr val="22312A"/>
                </a:solidFill>
                <a:latin typeface="Montserrat"/>
              </a:rPr>
              <a:t>Anonymous get 401, staff get 403; the endpoint is paginated and filterable.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91640"/>
            <a:ext cx="4206240" cy="42062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8288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A recorded 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2286000"/>
            <a:ext cx="3749039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432304"/>
            <a:ext cx="3429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05F38"/>
                </a:solidFill>
                <a:latin typeface="Consolas"/>
              </a:rPr>
              <a:t>card_updated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E7873"/>
                </a:solidFill>
                <a:latin typeface="Consolas"/>
              </a:rPr>
              <a:t>id_card #142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000" b="0">
                <a:solidFill>
                  <a:srgbClr val="6E7873"/>
                </a:solidFill>
                <a:latin typeface="Consolas"/>
              </a:rPr>
              <a:t>Ma. Bautista · 10:42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F0B51F"/>
                </a:solidFill>
                <a:latin typeface="Consolas"/>
              </a:rPr>
              <a:t>FIELD          FROM → 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2312A"/>
                </a:solidFill>
                <a:latin typeface="Consolas"/>
              </a:rPr>
              <a:t>Course         BS Psychology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2D6848"/>
                </a:solidFill>
                <a:latin typeface="Consolas"/>
              </a:rPr>
              <a:t>               → BS Accountancy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22312A"/>
                </a:solidFill>
                <a:latin typeface="Consolas"/>
              </a:rPr>
              <a:t>Section        (empty)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2D6848"/>
                </a:solidFill>
                <a:latin typeface="Consolas"/>
              </a:rPr>
              <a:t>               → BS-Acc-2A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0">
                <a:solidFill>
                  <a:srgbClr val="22312A"/>
                </a:solidFill>
                <a:latin typeface="Consolas"/>
              </a:rPr>
              <a:t>Status         done → edited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E7873"/>
                </a:solidFill>
                <a:latin typeface="Consolas"/>
              </a:rPr>
              <a:t>192.168.1.24 · Chrome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0B51F"/>
                </a:solidFill>
                <a:latin typeface="Oswald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Oswald"/>
              </a:rPr>
              <a:t>Installation &amp;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0690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BFD6C8"/>
                </a:solidFill>
                <a:latin typeface="Montserrat"/>
              </a:rPr>
              <a:t>Set up on XAMPP, run the test suites, go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Installation Steps (XAMPP)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Six steps to a running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9202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Extract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395728"/>
            <a:ext cx="24688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Copy the folder to C:\xampp\htdocs\lake-shore-id-editor.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3736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92024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2392" y="19202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Start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395728"/>
            <a:ext cx="24688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Turn on Apache and MySQL in the XAMPP control panel.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73736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0" y="192024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99339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2024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Import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395728"/>
            <a:ext cx="24688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Open phpMyAdmin and import database/id_system.sql.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06908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4223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0690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Configure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4544568"/>
            <a:ext cx="24688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Check backend/config.php – host, user, password (root / empty).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88620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406908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14223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2392" y="40690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Test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2392" y="4544568"/>
            <a:ext cx="24688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Visit backend/api.php?action=cards – expect a JSON response.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886200"/>
            <a:ext cx="3566160" cy="1874519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0" y="4069080"/>
            <a:ext cx="658368" cy="658368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142232"/>
            <a:ext cx="6583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swa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7152" y="406908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Run 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4544568"/>
            <a:ext cx="24688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cd frontend → npm install → npm run dev → localhost:5173.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Access Points &amp; Accounts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Where to go and who signs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312A"/>
                </a:solidFill>
                <a:latin typeface="Montserrat"/>
              </a:rPr>
              <a:t>Student portal (public)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05F38"/>
                </a:solidFill>
                <a:latin typeface="Montserrat"/>
              </a:rPr>
              <a:t>http://localhost:5173</a:t>
            </a:r>
            <a:r>
              <a:rPr sz="1050" b="0">
                <a:solidFill>
                  <a:srgbClr val="6E7873"/>
                </a:solidFill>
                <a:latin typeface="Montserrat"/>
              </a:rPr>
              <a:t>   –  Create ID / lost ID – no login.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312A"/>
                </a:solidFill>
                <a:latin typeface="Montserrat"/>
              </a:rPr>
              <a:t>Staff &amp; admin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05F38"/>
                </a:solidFill>
                <a:latin typeface="Montserrat"/>
              </a:rPr>
              <a:t>http://localhost:5173</a:t>
            </a:r>
            <a:r>
              <a:rPr sz="1050" b="0">
                <a:solidFill>
                  <a:srgbClr val="6E7873"/>
                </a:solidFill>
                <a:latin typeface="Montserrat"/>
              </a:rPr>
              <a:t>   –  Sign in with a staff or admin account.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312A"/>
                </a:solidFill>
                <a:latin typeface="Montserrat"/>
              </a:rPr>
              <a:t>Backend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58768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05F38"/>
                </a:solidFill>
                <a:latin typeface="Montserrat"/>
              </a:rPr>
              <a:t>http://localhost/lake-shore-id-editor/backend/api.php</a:t>
            </a:r>
            <a:r>
              <a:rPr sz="1050" b="0">
                <a:solidFill>
                  <a:srgbClr val="6E7873"/>
                </a:solidFill>
                <a:latin typeface="Montserrat"/>
              </a:rPr>
              <a:t>   –  JSON responses for every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312A"/>
                </a:solidFill>
                <a:latin typeface="Montserrat"/>
              </a:rPr>
              <a:t>phpMyAdmin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73168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05F38"/>
                </a:solidFill>
                <a:latin typeface="Montserrat"/>
              </a:rPr>
              <a:t>http://localhost/phpmyadmin</a:t>
            </a:r>
            <a:r>
              <a:rPr sz="1050" b="0">
                <a:solidFill>
                  <a:srgbClr val="6E7873"/>
                </a:solidFill>
                <a:latin typeface="Montserrat"/>
              </a:rPr>
              <a:t>   –  Database management &amp; backups.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737360"/>
            <a:ext cx="3977639" cy="246888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05F38"/>
                </a:solidFill>
                <a:latin typeface="Oswald"/>
              </a:rPr>
              <a:t>Default admin account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68880"/>
            <a:ext cx="3566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6E7873"/>
                </a:solidFill>
                <a:latin typeface="Montserrat"/>
              </a:rPr>
              <a:t>Username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mbautista@lakeshore.edu.ph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6E7873"/>
                </a:solidFill>
                <a:latin typeface="Montserrat"/>
              </a:rPr>
              <a:t>Role  </a:t>
            </a:r>
            <a:r>
              <a:rPr sz="1150" b="1">
                <a:solidFill>
                  <a:srgbClr val="22312A"/>
                </a:solidFill>
                <a:latin typeface="Montserrat"/>
              </a:rPr>
              <a:t>admin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7873"/>
                </a:solidFill>
                <a:latin typeface="Montserrat"/>
              </a:rPr>
              <a:t>(password set from the seeded hash in id_system.sql – change on first login)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434840"/>
            <a:ext cx="3977639" cy="146304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572000"/>
            <a:ext cx="3566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05F38"/>
                </a:solidFill>
                <a:latin typeface="Oswald"/>
              </a:rPr>
              <a:t>Important folders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Student photos  → backend/uploads/students/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Signatures  → backend/uploads/signatures/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Logo  → frontend/public/lsc-logo.png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322 automated cases run against a live server, and they clean up after themselves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017520" cy="2011680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Oswald"/>
              </a:rPr>
              <a:t>320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D6E8DC"/>
                </a:solidFill>
                <a:latin typeface="Oswald"/>
              </a:rPr>
              <a:t>cases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FD6C8"/>
                </a:solidFill>
                <a:latin typeface="Montserrat"/>
              </a:rPr>
              <a:t>of 322 total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77639" y="1645920"/>
          <a:ext cx="754380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3320"/>
                <a:gridCol w="1188720"/>
                <a:gridCol w="26517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Suite</a:t>
                      </a:r>
                    </a:p>
                  </a:txBody>
                  <a:tcPr marL="73152" marR="54864" marT="18288" marB="18288" anchor="ctr">
                    <a:solidFill>
                      <a:srgbClr val="205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Cases</a:t>
                      </a:r>
                    </a:p>
                  </a:txBody>
                  <a:tcPr marL="73152" marR="54864" marT="18288" marB="18288" anchor="ctr">
                    <a:solidFill>
                      <a:srgbClr val="205F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Result</a:t>
                      </a:r>
                    </a:p>
                  </a:txBody>
                  <a:tcPr marL="73152" marR="54864" marT="18288" marB="18288" anchor="ctr">
                    <a:solidFill>
                      <a:srgbClr val="205F38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12A"/>
                          </a:solidFill>
                          <a:latin typeface="Montserrat"/>
                        </a:rPr>
                        <a:t>qa_api_test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68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68 PASS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12A"/>
                          </a:solidFill>
                          <a:latin typeface="Montserrat"/>
                        </a:rPr>
                        <a:t>qa_api_test2 (adversarial)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42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40 PASS  ·  2 policy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12A"/>
                          </a:solidFill>
                          <a:latin typeface="Montserrat"/>
                        </a:rPr>
                        <a:t>qa_audit_test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26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26 PASS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12A"/>
                          </a:solidFill>
                          <a:latin typeface="Montserrat"/>
                        </a:rPr>
                        <a:t>qa_rate_limit_test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42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42 PASS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12A"/>
                          </a:solidFill>
                          <a:latin typeface="Montserrat"/>
                        </a:rPr>
                        <a:t>qa_rate_limit_ip_test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12 PASS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12A"/>
                          </a:solidFill>
                          <a:latin typeface="Montserrat"/>
                        </a:rPr>
                        <a:t>qa_release / print / bulk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57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all PASS</a:t>
                      </a:r>
                    </a:p>
                  </a:txBody>
                  <a:tcPr marL="73152" marR="54864" marT="18288" marB="18288" anchor="ctr">
                    <a:solidFill>
                      <a:srgbClr val="EFF4F1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312A"/>
                          </a:solidFill>
                          <a:latin typeface="Montserrat"/>
                        </a:rPr>
                        <a:t>qa_dashboard / lookup / import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75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312A"/>
                          </a:solidFill>
                          <a:latin typeface="Montserrat"/>
                        </a:rPr>
                        <a:t>all PASS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3886200"/>
            <a:ext cx="10881360" cy="201168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205F38"/>
                </a:solidFill>
                <a:latin typeface="Oswald"/>
              </a:rPr>
              <a:t>What the suites prove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1">
                <a:solidFill>
                  <a:srgbClr val="22312A"/>
                </a:solidFill>
                <a:latin typeface="Montserrat"/>
              </a:rPr>
              <a:t>6 parallel identical submissions always create exactly one row </a:t>
            </a:r>
            <a:r>
              <a:rPr sz="1100" b="0">
                <a:solidFill>
                  <a:srgbClr val="6E7873"/>
                </a:solidFill>
                <a:latin typeface="Montserrat"/>
              </a:rPr>
              <a:t>– a named write lock closes a race that a duplicate check alone could not.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1">
                <a:solidFill>
                  <a:srgbClr val="22312A"/>
                </a:solidFill>
                <a:latin typeface="Montserrat"/>
              </a:rPr>
              <a:t>The public search cannot be used to enumerate students </a:t>
            </a:r>
            <a:r>
              <a:rPr sz="1100" b="0">
                <a:solidFill>
                  <a:srgbClr val="6E7873"/>
                </a:solidFill>
                <a:latin typeface="Montserrat"/>
              </a:rPr>
              <a:t>– exact match, one row, minimum length, no wildcards, rate limited.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1">
                <a:solidFill>
                  <a:srgbClr val="22312A"/>
                </a:solidFill>
                <a:latin typeface="Montserrat"/>
              </a:rPr>
              <a:t>A released ID is genuinely final </a:t>
            </a:r>
            <a:r>
              <a:rPr sz="1100" b="0">
                <a:solidFill>
                  <a:srgbClr val="6E7873"/>
                </a:solidFill>
                <a:latin typeface="Montserrat"/>
              </a:rPr>
              <a:t>– re-release and status changes are refused with 409 and the data stays intact.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0B51F"/>
                </a:solidFill>
                <a:latin typeface="Montserrat"/>
              </a:rPr>
              <a:t>▪  </a:t>
            </a:r>
            <a:r>
              <a:rPr sz="1100" b="1">
                <a:solidFill>
                  <a:srgbClr val="22312A"/>
                </a:solidFill>
                <a:latin typeface="Montserrat"/>
              </a:rPr>
              <a:t>The 2 remaining items are product decisions, not defects </a:t>
            </a:r>
            <a:r>
              <a:rPr sz="1100" b="0">
                <a:solidFill>
                  <a:srgbClr val="6E7873"/>
                </a:solidFill>
                <a:latin typeface="Montserrat"/>
              </a:rPr>
              <a:t>– whether a student number should be unique school-wide or only per name.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Documentation &amp;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Everything needed to run, extend and hand the system 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719072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73936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70078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965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Purpose, features, departments,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719072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773936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170078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1965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Tiers, stack, folders, request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86584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" y="2505456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560320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24871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275234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All 10 tables, columns, keys, seed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386584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2505456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560320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48716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API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275234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Every action, auth level, status codes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172968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8096" y="3291840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346704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327355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Installation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35387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Fresh install, updates, production build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172968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45936" y="3291840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3346704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327355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Student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4576" y="35387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The public portal, step by step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3959352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8096" y="4078224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133088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6736" y="405993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Staff &amp; Admin Guide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6736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Every screen and the daily routine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959352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45936" y="4078224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4133088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4576" y="405993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94576" y="432511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Controls, rate limiting, audit, checklist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745736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8096" y="4864608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" y="4919472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6736" y="48463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Operations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16736" y="51114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Backup, restore, maintenance schedule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745736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45936" y="4864608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4919472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4576" y="48463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Testing &amp; QA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94576" y="5111496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The suites, results, manual checklist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5532120"/>
            <a:ext cx="5349240" cy="658368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68096" y="5650992"/>
            <a:ext cx="420624" cy="420624"/>
          </a:xfrm>
          <a:prstGeom prst="roundRect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" y="5705856"/>
            <a:ext cx="4206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Oswald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16736" y="5632704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05F38"/>
                </a:solidFill>
                <a:latin typeface="Oswald"/>
              </a:rPr>
              <a:t>Troubleshooting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16736" y="5897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E7873"/>
                </a:solidFill>
                <a:latin typeface="Montserrat"/>
              </a:rPr>
              <a:t>Common problems and exact fixes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E7873"/>
                </a:solidFill>
                <a:latin typeface="Montserrat"/>
              </a:rPr>
              <a:t>Stored in the documentation/ folder of the project, alongside the PowerPoint deck in presentation/.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205F38"/>
                </a:solidFill>
                <a:latin typeface="Oswald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E7873"/>
                </a:solidFill>
                <a:latin typeface="Montserrat"/>
              </a:rPr>
              <a:t>What this system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4415" cy="31750"/>
          </a:xfrm>
          <a:prstGeom prst="rect">
            <a:avLst/>
          </a:prstGeom>
          <a:solidFill>
            <a:srgbClr val="D6D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5855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E7873"/>
                </a:solidFill>
                <a:latin typeface="Montserrat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114800"/>
          </a:xfrm>
          <a:prstGeom prst="roundRect">
            <a:avLst/>
          </a:prstGeom>
          <a:solidFill>
            <a:srgbClr val="F4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★  </a:t>
            </a:r>
            <a:r>
              <a:rPr sz="1300" b="1">
                <a:solidFill>
                  <a:srgbClr val="205F38"/>
                </a:solidFill>
                <a:latin typeface="Oswald"/>
              </a:rPr>
              <a:t>Fast &amp; Accurate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2203703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Data is captured once, with server-side duplicate protection – the ID is generated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7451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★  </a:t>
            </a:r>
            <a:r>
              <a:rPr sz="1300" b="1">
                <a:solidFill>
                  <a:srgbClr val="205F38"/>
                </a:solidFill>
                <a:latin typeface="Oswald"/>
              </a:rPr>
              <a:t>Any Department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5664" y="2203703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College, Junior High and Senior High, each with their own fields and grade colour bands.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5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★  </a:t>
            </a:r>
            <a:r>
              <a:rPr sz="1300" b="1">
                <a:solidFill>
                  <a:srgbClr val="205F38"/>
                </a:solidFill>
                <a:latin typeface="Oswald"/>
              </a:rPr>
              <a:t>Design-Faithful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209543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The uploaded design becomes an exact-copy template – and versioning keeps old cards unchanged.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8035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★  </a:t>
            </a:r>
            <a:r>
              <a:rPr sz="1300" b="1">
                <a:solidFill>
                  <a:srgbClr val="205F38"/>
                </a:solidFill>
                <a:latin typeface="Oswald"/>
              </a:rPr>
              <a:t>Print-Ready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3209543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Front and back preview, PNG/JPG export, bulk print and Smart ID 51 dual-side printing.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19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★  </a:t>
            </a:r>
            <a:r>
              <a:rPr sz="1300" b="1">
                <a:solidFill>
                  <a:srgbClr val="205F38"/>
                </a:solidFill>
                <a:latin typeface="Oswald"/>
              </a:rPr>
              <a:t>Secure &amp; Auditable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215383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Roles, CSRF, validated uploads, rate limiting and an append-only audit trail.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88619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★  </a:t>
            </a:r>
            <a:r>
              <a:rPr sz="1300" b="1">
                <a:solidFill>
                  <a:srgbClr val="205F38"/>
                </a:solidFill>
                <a:latin typeface="Oswald"/>
              </a:rPr>
              <a:t>Proven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4215383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320 of 322 automated QA cases pass; the 2 remaining are documented product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3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★  </a:t>
            </a:r>
            <a:r>
              <a:rPr sz="1300" b="1">
                <a:solidFill>
                  <a:srgbClr val="205F38"/>
                </a:solidFill>
                <a:latin typeface="Oswald"/>
              </a:rPr>
              <a:t>Documented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5221223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Eleven guides covering installation, users, security, operations, QA and troubleshooting.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92039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0B51F"/>
                </a:solidFill>
                <a:latin typeface="Montserrat"/>
              </a:rPr>
              <a:t>★  </a:t>
            </a:r>
            <a:r>
              <a:rPr sz="1300" b="1">
                <a:solidFill>
                  <a:srgbClr val="205F38"/>
                </a:solidFill>
                <a:latin typeface="Oswald"/>
              </a:rPr>
              <a:t>Easy to Maintain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5221223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E7873"/>
                </a:solidFill>
                <a:latin typeface="Montserrat"/>
              </a:rPr>
              <a:t>PHP + MySQL + React on XAMPP – simple to host, update and back 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7873"/>
                </a:solidFill>
                <a:latin typeface="Montserrat"/>
              </a:rPr>
              <a:t>Lake Shore Colleges  •  ID Management System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F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0B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B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56048" y="1005840"/>
            <a:ext cx="2286000" cy="2286000"/>
          </a:xfrm>
          <a:prstGeom prst="ellipse">
            <a:avLst/>
          </a:prstGeom>
          <a:solidFill>
            <a:srgbClr val="205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s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188720"/>
            <a:ext cx="192024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033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Oswa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0B51F"/>
                </a:solidFill>
                <a:latin typeface="Oswald"/>
              </a:rPr>
              <a:t>Lake Shore Colleges  •  ID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394960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FE0D5"/>
                </a:solidFill>
                <a:latin typeface="Montserrat"/>
              </a:rP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